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AI-Destekli Veri Sıkıştırma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ECF0F1"/>
                </a:solidFill>
              </a:rPr>
              <a:t>Klasik Algoritmaların Sinir Ağı Tabanlı Otomatik Seçimi
ve LLM Tabanlı Akıllı Sözlük Üretimi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Betül Arslan</a:t>
            </a:r>
          </a:p>
          <a:p>
            <a:pPr algn="ctr"/>
            <a:r>
              <a:rPr sz="2000">
                <a:solidFill>
                  <a:srgbClr val="ECF0F1"/>
                </a:solidFill>
              </a:rPr>
              <a:t>Yıldız Teknik Üniversitesi · Bilgisayar Mühendisliği · Bahar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📋 İçindekiler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333333"/>
                </a:solidFill>
              </a:rPr>
              <a:t>1. Problem ve Amaç</a:t>
            </a:r>
          </a:p>
          <a:p>
            <a:pPr/>
            <a:r>
              <a:rPr sz="2200" b="0">
                <a:solidFill>
                  <a:srgbClr val="333333"/>
                </a:solidFill>
              </a:rPr>
              <a:t>2. Bilgi Teorisi Temeli — Shannon Entropisi</a:t>
            </a:r>
          </a:p>
          <a:p>
            <a:pPr/>
            <a:r>
              <a:rPr sz="2200" b="0">
                <a:solidFill>
                  <a:srgbClr val="333333"/>
                </a:solidFill>
              </a:rPr>
              <a:t>3. Sistem Mimarisi</a:t>
            </a:r>
          </a:p>
          <a:p>
            <a:pPr/>
            <a:r>
              <a:rPr sz="2200" b="0">
                <a:solidFill>
                  <a:srgbClr val="333333"/>
                </a:solidFill>
              </a:rPr>
              <a:t>4. Klasik Algoritmalar (Huffman / LZW / BWT+MTF)</a:t>
            </a:r>
          </a:p>
          <a:p>
            <a:pPr/>
            <a:r>
              <a:rPr sz="2200" b="1">
                <a:solidFill>
                  <a:srgbClr val="E67E22"/>
                </a:solidFill>
              </a:rPr>
              <a:t>5. 🤖 AI Entegrasyonu — Akıllı Sözlük + NN Seçici</a:t>
            </a:r>
          </a:p>
          <a:p>
            <a:pPr/>
            <a:r>
              <a:rPr sz="2200" b="0">
                <a:solidFill>
                  <a:srgbClr val="333333"/>
                </a:solidFill>
              </a:rPr>
              <a:t>6. Sinir Ağının 11 Özelliği</a:t>
            </a:r>
          </a:p>
          <a:p>
            <a:pPr/>
            <a:r>
              <a:rPr sz="2200" b="0">
                <a:solidFill>
                  <a:srgbClr val="333333"/>
                </a:solidFill>
              </a:rPr>
              <a:t>7. Performans Sonuçları</a:t>
            </a:r>
          </a:p>
          <a:p>
            <a:pPr/>
            <a:r>
              <a:rPr sz="2200" b="0">
                <a:solidFill>
                  <a:srgbClr val="333333"/>
                </a:solidFill>
              </a:rPr>
              <a:t>8. Endüstri Karşılaştırması (gzip, bzip2)</a:t>
            </a:r>
          </a:p>
          <a:p>
            <a:pPr/>
            <a:r>
              <a:rPr sz="2200" b="0">
                <a:solidFill>
                  <a:srgbClr val="333333"/>
                </a:solidFill>
              </a:rPr>
              <a:t>9. Canlı Demo</a:t>
            </a:r>
          </a:p>
          <a:p>
            <a:pPr/>
            <a:r>
              <a:rPr sz="2200" b="0">
                <a:solidFill>
                  <a:srgbClr val="333333"/>
                </a:solidFill>
              </a:rPr>
              <a:t>10. Sonuç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🎯 Problem ve Amaç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7F8C8D"/>
                </a:solidFill>
              </a:rPr>
              <a:t>Her algoritma farklı veride iyi performans gösterir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3498DB"/>
                </a:solidFill>
              </a:rPr>
              <a:t>Huffman: Karakter bazlı → doğal dilde orta</a:t>
            </a:r>
          </a:p>
          <a:p>
            <a:pPr/>
            <a:r>
              <a:rPr sz="2200" b="1">
                <a:solidFill>
                  <a:srgbClr val="3498DB"/>
                </a:solidFill>
              </a:rPr>
              <a:t>LZW: Pattern bazlı → tekrarlı veride güçlü</a:t>
            </a:r>
          </a:p>
          <a:p>
            <a:pPr/>
            <a:r>
              <a:rPr sz="2200" b="1">
                <a:solidFill>
                  <a:srgbClr val="3498DB"/>
                </a:solidFill>
              </a:rPr>
              <a:t>BWT (bzip2): Yapısal düzen → kümeli veride mükemmel</a:t>
            </a:r>
          </a:p>
          <a:p>
            <a:pPr/>
            <a:r>
              <a:rPr sz="1200" b="0">
                <a:solidFill>
                  <a:srgbClr val="333333"/>
                </a:solidFill>
              </a:rPr>
              <a:t/>
            </a:r>
          </a:p>
          <a:p>
            <a:pPr/>
            <a:r>
              <a:rPr sz="2400" b="1">
                <a:solidFill>
                  <a:srgbClr val="E74C3C"/>
                </a:solidFill>
              </a:rPr>
              <a:t>❓ Soru: "Verilen bir metin için hangi algoritma en iyi?"</a:t>
            </a:r>
          </a:p>
          <a:p>
            <a:pPr/>
            <a:r>
              <a:rPr sz="800" b="0">
                <a:solidFill>
                  <a:srgbClr val="333333"/>
                </a:solidFill>
              </a:rPr>
              <a:t/>
            </a:r>
          </a:p>
          <a:p>
            <a:pPr/>
            <a:r>
              <a:rPr sz="2000" b="0">
                <a:solidFill>
                  <a:srgbClr val="7F8C8D"/>
                </a:solidFill>
              </a:rPr>
              <a:t>📚 Bu, Algorithm Selection Problem (Rice, 1976)</a:t>
            </a:r>
          </a:p>
          <a:p>
            <a:pPr/>
            <a:r>
              <a:rPr sz="2000" b="0">
                <a:solidFill>
                  <a:srgbClr val="7F8C8D"/>
                </a:solidFill>
              </a:rPr>
              <a:t>Modern çözüm: Makine öğrenmesi (Kotthoff, 2014)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🎯 Hocanın PDF'inde 2 Değerlendirme Kriteri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7F8C8D"/>
                </a:solidFill>
              </a:rPr>
              <a:t>Her ikisine de yanıt verildi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27AE60"/>
                </a:solidFill>
              </a:rPr>
              <a:t>✅ Kriter 1: En İyi Performans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6 veri tipinde +%2.5 ile +%86.5 iyileşme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Bzip2'den %36.5 daha küçük (kısa metinde)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100 birim test ile sıfır kayıp</a:t>
            </a:r>
          </a:p>
          <a:p>
            <a:pPr/>
            <a:r>
              <a:rPr sz="1000" b="0">
                <a:solidFill>
                  <a:srgbClr val="333333"/>
                </a:solidFill>
              </a:rPr>
              <a:t/>
            </a:r>
          </a:p>
          <a:p>
            <a:pPr/>
            <a:r>
              <a:rPr sz="2600" b="1">
                <a:solidFill>
                  <a:srgbClr val="27AE60"/>
                </a:solidFill>
              </a:rPr>
              <a:t>✅ Kriter 2: En İyi AI Entegrasyonu</a:t>
            </a:r>
          </a:p>
          <a:p>
            <a:pPr lvl="1"/>
            <a:r>
              <a:rPr sz="1800" b="1">
                <a:solidFill>
                  <a:srgbClr val="E67E22"/>
                </a:solidFill>
              </a:rPr>
              <a:t>• 🤖 LLM ile LZW sözlüğü üretimi (PDF'te özellikle istenen!)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3-sınıflı sinir ağı algoritma seçici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Akıllı Hibrit no-regret yöneticisi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42 adım AI günlüğü, 12 akademik doğrulama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📐 Bilgi Teorisi: Shannon Entropisi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7F8C8D"/>
                </a:solidFill>
              </a:rPr>
              <a:t>Sıkıştırma için teorik alt sınır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333333"/>
                </a:solidFill>
              </a:rPr>
              <a:t>Formül (Shannon, 1948):</a:t>
            </a:r>
          </a:p>
          <a:p>
            <a:pPr/>
            <a:r>
              <a:rPr sz="2600" b="1">
                <a:solidFill>
                  <a:srgbClr val="3498DB"/>
                </a:solidFill>
              </a:rPr>
              <a:t>H(X) = -Σ p(c) · log₂ p(c)   [bit/karakter]</a:t>
            </a:r>
          </a:p>
          <a:p>
            <a:pPr/>
            <a:r>
              <a:rPr sz="800" b="0">
                <a:solidFill>
                  <a:srgbClr val="333333"/>
                </a:solidFill>
              </a:rPr>
              <a:t/>
            </a:r>
          </a:p>
          <a:p>
            <a:pPr/>
            <a:r>
              <a:rPr sz="2200" b="1">
                <a:solidFill>
                  <a:srgbClr val="333333"/>
                </a:solidFill>
              </a:rPr>
              <a:t>Sezgisel anlam: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"aaaaaa" → 0 bit/kar (tahmin kesin)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"abababab" → 1 bit/kar (2 karakter)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Türkçe metin → ~4.5 bit/kar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Rastgele bit → 8 bit/kar (maksimum)</a:t>
            </a:r>
          </a:p>
          <a:p>
            <a:pPr/>
            <a:r>
              <a:rPr sz="800" b="0">
                <a:solidFill>
                  <a:srgbClr val="333333"/>
                </a:solidFill>
              </a:rPr>
              <a:t/>
            </a:r>
          </a:p>
          <a:p>
            <a:pPr/>
            <a:r>
              <a:rPr sz="2400" b="1">
                <a:solidFill>
                  <a:srgbClr val="E74C3C"/>
                </a:solidFill>
              </a:rPr>
              <a:t>⚡ Hiçbir algoritma bu sınırın altına inemez!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🏗️ Sistem Mimarisi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7F8C8D"/>
                </a:solidFill>
              </a:rPr>
              <a:t>3 katmanlı AI entegrasyonu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2C3E50"/>
                </a:solidFill>
              </a:rPr>
              <a:t>[Kullanıcı Metni]</a:t>
            </a:r>
          </a:p>
          <a:p>
            <a:pPr/>
            <a:r>
              <a:rPr sz="1400" b="0">
                <a:solidFill>
                  <a:srgbClr val="7F8C8D"/>
                </a:solidFill>
              </a:rPr>
              <a:t>      ↓</a:t>
            </a:r>
          </a:p>
          <a:p>
            <a:pPr/>
            <a:r>
              <a:rPr sz="1400" b="0">
                <a:solidFill>
                  <a:srgbClr val="3498DB"/>
                </a:solidFill>
              </a:rPr>
              <a:t>┌─ Klasik Algo. ──┐  ┌─ Groq LLM ──┐  ┌─ Sinir Ağı ──┐</a:t>
            </a:r>
          </a:p>
          <a:p>
            <a:pPr/>
            <a:r>
              <a:rPr sz="1400" b="0">
                <a:solidFill>
                  <a:srgbClr val="3498DB"/>
                </a:solidFill>
              </a:rPr>
              <a:t>│ Huffman/LZW/BWT │  │ AI Sözlüğü   │  │ MLP Seçici   │</a:t>
            </a:r>
          </a:p>
          <a:p>
            <a:pPr/>
            <a:r>
              <a:rPr sz="1400" b="0">
                <a:solidFill>
                  <a:srgbClr val="3498DB"/>
                </a:solidFill>
              </a:rPr>
              <a:t>└──────────┬──────┘  └──────┬──────┘  └──────┬──────┘</a:t>
            </a:r>
          </a:p>
          <a:p>
            <a:pPr/>
            <a:r>
              <a:rPr sz="1400" b="0">
                <a:solidFill>
                  <a:srgbClr val="7F8C8D"/>
                </a:solidFill>
              </a:rPr>
              <a:t>           └─────────────┼──────────────┘</a:t>
            </a:r>
          </a:p>
          <a:p>
            <a:pPr/>
            <a:r>
              <a:rPr sz="1400" b="0">
                <a:solidFill>
                  <a:srgbClr val="7F8C8D"/>
                </a:solidFill>
              </a:rPr>
              <a:t>                         ▼</a:t>
            </a:r>
          </a:p>
          <a:p>
            <a:pPr/>
            <a:r>
              <a:rPr sz="1600" b="1">
                <a:solidFill>
                  <a:srgbClr val="E67E22"/>
                </a:solidFill>
              </a:rPr>
              <a:t>         ┌─ Akıllı Hibrit Yöneticisi ─┐</a:t>
            </a:r>
          </a:p>
          <a:p>
            <a:pPr/>
            <a:r>
              <a:rPr sz="1400" b="0">
                <a:solidFill>
                  <a:srgbClr val="E67E22"/>
                </a:solidFill>
              </a:rPr>
              <a:t>         │  NN seç + BWT post-check   │</a:t>
            </a:r>
          </a:p>
          <a:p>
            <a:pPr/>
            <a:r>
              <a:rPr sz="1600" b="0">
                <a:solidFill>
                  <a:srgbClr val="E67E22"/>
                </a:solidFill>
              </a:rPr>
              <a:t>         └──────────────┬─────────────┘</a:t>
            </a:r>
          </a:p>
          <a:p>
            <a:pPr/>
            <a:r>
              <a:rPr sz="1400" b="0">
                <a:solidFill>
                  <a:srgbClr val="7F8C8D"/>
                </a:solidFill>
              </a:rPr>
              <a:t>                        ▼</a:t>
            </a:r>
          </a:p>
          <a:p>
            <a:pPr/>
            <a:r>
              <a:rPr sz="1800" b="1">
                <a:solidFill>
                  <a:srgbClr val="27AE60"/>
                </a:solidFill>
              </a:rPr>
              <a:t>                  Sıkıştırılmış Çıktı (.bin)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📦 Klasik Algoritmalar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7F8C8D"/>
                </a:solidFill>
              </a:rPr>
              <a:t>Akademik temelli üç algoritma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3498DB"/>
                </a:solidFill>
              </a:rPr>
              <a:t>1️⃣ Huffman (1952)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Optimal prefix-free kod, min-heap ile ağaç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H(X) ≤ L &lt; H(X)+1 (Cover &amp; Thomas)</a:t>
            </a:r>
          </a:p>
          <a:p>
            <a:pPr/>
            <a:r>
              <a:rPr sz="800" b="0">
                <a:solidFill>
                  <a:srgbClr val="333333"/>
                </a:solidFill>
              </a:rPr>
              <a:t/>
            </a:r>
          </a:p>
          <a:p>
            <a:pPr/>
            <a:r>
              <a:rPr sz="2400" b="1">
                <a:solidFill>
                  <a:srgbClr val="3498DB"/>
                </a:solidFill>
              </a:rPr>
              <a:t>2️⃣ LZW (1984)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Sözlük dosya başında gönderilmez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Türkçe karakter çözümü: alfabe ekle (Salomon §6.13)</a:t>
            </a:r>
          </a:p>
          <a:p>
            <a:pPr/>
            <a:r>
              <a:rPr sz="800" b="0">
                <a:solidFill>
                  <a:srgbClr val="333333"/>
                </a:solidFill>
              </a:rPr>
              <a:t/>
            </a:r>
          </a:p>
          <a:p>
            <a:pPr/>
            <a:r>
              <a:rPr sz="2400" b="1">
                <a:solidFill>
                  <a:srgbClr val="3498DB"/>
                </a:solidFill>
              </a:rPr>
              <a:t>3️⃣ BWT + MTF + RLE + Huffman (Klasik bzip2)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Tam pipeline (Burrows-Wheeler 1994, Bentley 1986)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Bloklu sistem ile sınırsız uzunluk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🤖 AI Entegrasyonu — Akıllı Sözlük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7F8C8D"/>
                </a:solidFill>
              </a:rPr>
              <a:t>Hocanın PDF'inde özellikle istenen özellik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7F8C8D"/>
                </a:solidFill>
              </a:rPr>
              <a:t>📋 Hocanın PDF'inden:</a:t>
            </a:r>
          </a:p>
          <a:p>
            <a:pPr lvl="1"/>
            <a:r>
              <a:rPr sz="1800" b="0">
                <a:solidFill>
                  <a:srgbClr val="7F8C8D"/>
                </a:solidFill>
              </a:rPr>
              <a:t>"LZW veya Huffman için 'en optimize' sözlüğü bir LLM'e</a:t>
            </a:r>
          </a:p>
          <a:p>
            <a:pPr lvl="1"/>
            <a:r>
              <a:rPr sz="1800" b="0">
                <a:solidFill>
                  <a:srgbClr val="7F8C8D"/>
                </a:solidFill>
              </a:rPr>
              <a:t> analiz ettirip oluşturmak."</a:t>
            </a:r>
          </a:p>
          <a:p>
            <a:pPr/>
            <a:r>
              <a:rPr sz="800" b="0">
                <a:solidFill>
                  <a:srgbClr val="333333"/>
                </a:solidFill>
              </a:rPr>
              <a:t/>
            </a:r>
          </a:p>
          <a:p>
            <a:pPr/>
            <a:r>
              <a:rPr sz="2200" b="1">
                <a:solidFill>
                  <a:srgbClr val="27AE60"/>
                </a:solidFill>
              </a:rPr>
              <a:t>✅ Bu Projedeki Çözüm: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1. Kullanıcı metni LLM'e (LLaMA 3.3 70B) gönderilir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2. Prompt: "60 yaygın kelime/ifade öner"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3. LLM döner: ["Türkiye", "Avrupa", "köprü", ...]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4. Bu kelimeler LZW başlangıç sözlüğüne eklenir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5. Sözlük: 256 ASCII + 60 LLM = 316 başlangıç pattern</a:t>
            </a:r>
          </a:p>
          <a:p>
            <a:pPr/>
            <a:r>
              <a:rPr sz="800" b="0">
                <a:solidFill>
                  <a:srgbClr val="333333"/>
                </a:solidFill>
              </a:rPr>
              <a:t/>
            </a:r>
          </a:p>
          <a:p>
            <a:pPr/>
            <a:r>
              <a:rPr sz="2200" b="1">
                <a:solidFill>
                  <a:srgbClr val="E67E22"/>
                </a:solidFill>
              </a:rPr>
              <a:t>🎯 Sonuç: Standart LZW'ye göre +%13 ek küçülme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🔧 Prompt Mühendisliği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7F8C8D"/>
                </a:solidFill>
              </a:rPr>
              <a:t>Sistematik AI komutları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1">
                <a:solidFill>
                  <a:srgbClr val="3498DB"/>
                </a:solidFill>
              </a:rPr>
              <a:t>Sistem Promptu: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"Sen veri sıkıştırma uzmanısın. LZW için pattern eşleşmesini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hızlandıracak EN YAYGIN kelimeleri tahmin et. JSON döndür."</a:t>
            </a:r>
          </a:p>
          <a:p>
            <a:pPr/>
            <a:r>
              <a:rPr sz="800" b="0">
                <a:solidFill>
                  <a:srgbClr val="333333"/>
                </a:solidFill>
              </a:rPr>
              <a:t/>
            </a:r>
          </a:p>
          <a:p>
            <a:pPr/>
            <a:r>
              <a:rPr sz="2000" b="1">
                <a:solidFill>
                  <a:srgbClr val="3498DB"/>
                </a:solidFill>
              </a:rPr>
              <a:t>Kullanıcı Promptu: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"Bu Türkçe metin için 60 yaygın kelime öner.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Metin: """Türkiye, Avrupa ve Asya..."""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Format: ["kelime1", "kelime2", ...]"</a:t>
            </a:r>
          </a:p>
          <a:p>
            <a:pPr/>
            <a:r>
              <a:rPr sz="800" b="0">
                <a:solidFill>
                  <a:srgbClr val="333333"/>
                </a:solidFill>
              </a:rPr>
              <a:t/>
            </a:r>
          </a:p>
          <a:p>
            <a:pPr/>
            <a:r>
              <a:rPr sz="2000" b="1">
                <a:solidFill>
                  <a:srgbClr val="E67E22"/>
                </a:solidFill>
              </a:rPr>
              <a:t>📚 Karmaşık algoritmayı parçalama: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BWT için adım adım sordum:</a:t>
            </a:r>
          </a:p>
          <a:p>
            <a:pPr lvl="1"/>
            <a:r>
              <a:rPr sz="1600" b="0">
                <a:solidFill>
                  <a:srgbClr val="333333"/>
                </a:solidFill>
              </a:rPr>
              <a:t>  1. "BWT nedir? Adımlarını yaz."</a:t>
            </a:r>
          </a:p>
          <a:p>
            <a:pPr lvl="1"/>
            <a:r>
              <a:rPr sz="1600" b="0">
                <a:solidFill>
                  <a:srgbClr val="333333"/>
                </a:solidFill>
              </a:rPr>
              <a:t>  2. "Move-to-Front nasıl çalışır?"</a:t>
            </a:r>
          </a:p>
          <a:p>
            <a:pPr lvl="1"/>
            <a:r>
              <a:rPr sz="1600" b="0">
                <a:solidFill>
                  <a:srgbClr val="333333"/>
                </a:solidFill>
              </a:rPr>
              <a:t>  3. "LF mapping ile decode nasıl?"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🧠 Sinir Ağı: MLP 32→16→8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7F8C8D"/>
                </a:solidFill>
              </a:rPr>
              <a:t>11 özelliği girdi alıp 3 sınıf çıktısı verir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1">
                <a:solidFill>
                  <a:srgbClr val="333333"/>
                </a:solidFill>
              </a:rPr>
              <a:t>Mimari (Bishop §5.1, Goodfellow §6.3):</a:t>
            </a:r>
          </a:p>
          <a:p>
            <a:pPr/>
            <a:r>
              <a:rPr sz="1800" b="0">
                <a:solidFill>
                  <a:srgbClr val="3498DB"/>
                </a:solidFill>
              </a:rPr>
              <a:t>Girdi (11 özellik)</a:t>
            </a:r>
          </a:p>
          <a:p>
            <a:pPr/>
            <a:r>
              <a:rPr sz="1400" b="0">
                <a:solidFill>
                  <a:srgbClr val="7F8C8D"/>
                </a:solidFill>
              </a:rPr>
              <a:t>       ↓</a:t>
            </a:r>
          </a:p>
          <a:p>
            <a:pPr/>
            <a:r>
              <a:rPr sz="1800" b="1">
                <a:solidFill>
                  <a:srgbClr val="3498DB"/>
                </a:solidFill>
              </a:rPr>
              <a:t>[32 nöron, ReLU]  →  [16, ReLU]  →  [8, ReLU]</a:t>
            </a:r>
          </a:p>
          <a:p>
            <a:pPr/>
            <a:r>
              <a:rPr sz="1400" b="0">
                <a:solidFill>
                  <a:srgbClr val="7F8C8D"/>
                </a:solidFill>
              </a:rPr>
              <a:t>       ↓</a:t>
            </a:r>
          </a:p>
          <a:p>
            <a:pPr/>
            <a:r>
              <a:rPr sz="1800" b="0">
                <a:solidFill>
                  <a:srgbClr val="3498DB"/>
                </a:solidFill>
              </a:rPr>
              <a:t>Çıktı: Huffman / LZW / BWT (Softmax)</a:t>
            </a:r>
          </a:p>
          <a:p>
            <a:pPr/>
            <a:r>
              <a:rPr sz="1200" b="0">
                <a:solidFill>
                  <a:srgbClr val="333333"/>
                </a:solidFill>
              </a:rPr>
              <a:t/>
            </a:r>
          </a:p>
          <a:p>
            <a:pPr/>
            <a:r>
              <a:rPr sz="2000" b="1">
                <a:solidFill>
                  <a:srgbClr val="333333"/>
                </a:solidFill>
              </a:rPr>
              <a:t>Eğitim Sonuçları: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2.357 örnek (sentetik + corpus)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L2 regularizasyon + Early stopping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5-fold Cross-Validation: %91.7 ± %1.8</a:t>
            </a:r>
          </a:p>
          <a:p>
            <a:pPr lvl="1"/>
            <a:r>
              <a:rPr sz="2200" b="1">
                <a:solidFill>
                  <a:srgbClr val="27AE60"/>
                </a:solidFill>
              </a:rPr>
              <a:t>• Hold-out test: %95.2 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🔬 Sinir Ağının 11 Özelliği (1/2)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097280"/>
          <a:ext cx="109728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83771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Özellik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Önem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Hangi Algoritmaya İşaret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783771">
                <a:tc>
                  <a:txBody>
                    <a:bodyPr/>
                    <a:lstStyle/>
                    <a:p>
                      <a:r>
                        <a:rPr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Shannon entropisi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Yüksek → Huffman</a:t>
                      </a:r>
                    </a:p>
                  </a:txBody>
                  <a:tcPr/>
                </a:tc>
              </a:tr>
              <a:tr h="783771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Benzersiz oran 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0.247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Düşük → BWT/LZW</a:t>
                      </a:r>
                    </a:p>
                  </a:txBody>
                  <a:tcPr/>
                </a:tc>
              </a:tr>
              <a:tr h="783771">
                <a:tc>
                  <a:txBody>
                    <a:bodyPr/>
                    <a:lstStyle/>
                    <a:p>
                      <a:r>
                        <a:rPr sz="14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Top-3 yoğunluk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Yüksek → Huffman</a:t>
                      </a:r>
                    </a:p>
                  </a:txBody>
                  <a:tcPr/>
                </a:tc>
              </a:tr>
              <a:tr h="783771">
                <a:tc>
                  <a:txBody>
                    <a:bodyPr/>
                    <a:lstStyle/>
                    <a:p>
                      <a:r>
                        <a:rPr sz="14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Boşluk oranı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Yüksek → LZW (doğal dil)</a:t>
                      </a:r>
                    </a:p>
                  </a:txBody>
                  <a:tcPr/>
                </a:tc>
              </a:tr>
              <a:tr h="783771">
                <a:tc>
                  <a:txBody>
                    <a:bodyPr/>
                    <a:lstStyle/>
                    <a:p>
                      <a:r>
                        <a:rPr sz="14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Türkçe karakter oranı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Yüksek → Türkçe corpus</a:t>
                      </a:r>
                    </a:p>
                  </a:txBody>
                  <a:tcPr/>
                </a:tc>
              </a:tr>
              <a:tr h="783774">
                <a:tc>
                  <a:txBody>
                    <a:bodyPr/>
                    <a:lstStyle/>
                    <a:p>
                      <a:r>
                        <a:rPr sz="14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Run-length ortalama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Yüksek → BWT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🔬 Sinir Ağının 11 Özelliği (2/2)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097280"/>
          <a:ext cx="109728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Özellik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Önem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Hangi Algoritmaya İşaret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Rakam oranı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Yüksek → LZW (log/JSON)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Büyük harf oranı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Dolaylı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Bigram entropi 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0.183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Düşük → LZW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Max koşu oranı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Yüksek → BWT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Alfabe boyutu (log₂) 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0.096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Küçük → BWT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⚡ Akıllı Hibrit (No-Regret Garantisi)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7F8C8D"/>
                </a:solidFill>
              </a:rPr>
              <a:t>Asla standart Huffman'dan kötü olamaz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3498DB"/>
                </a:solidFill>
              </a:rPr>
              <a:t>def smart_hybrid(text):</a:t>
            </a:r>
          </a:p>
          <a:p>
            <a:pPr/>
            <a:r>
              <a:rPr sz="1600" b="0">
                <a:solidFill>
                  <a:srgbClr val="7F8C8D"/>
                </a:solidFill>
              </a:rPr>
              <a:t>    # 1. Sinir ağı seç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nn = nn_predict(text)['algorithm']</a:t>
            </a:r>
          </a:p>
          <a:p>
            <a:pPr/>
            <a:r>
              <a:rPr sz="600" b="0">
                <a:solidFill>
                  <a:srgbClr val="333333"/>
                </a:solidFill>
              </a:rPr>
              <a:t/>
            </a:r>
          </a:p>
          <a:p>
            <a:pPr/>
            <a:r>
              <a:rPr sz="1600" b="0">
                <a:solidFill>
                  <a:srgbClr val="7F8C8D"/>
                </a:solidFill>
              </a:rPr>
              <a:t>    # 2. Seçilen algoritmayı çalıştır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smart_bits = ilgili_algoritma(text)</a:t>
            </a:r>
          </a:p>
          <a:p>
            <a:pPr/>
            <a:r>
              <a:rPr sz="600" b="0">
                <a:solidFill>
                  <a:srgbClr val="333333"/>
                </a:solidFill>
              </a:rPr>
              <a:t/>
            </a:r>
          </a:p>
          <a:p>
            <a:pPr/>
            <a:r>
              <a:rPr sz="1600" b="0">
                <a:solidFill>
                  <a:srgbClr val="7F8C8D"/>
                </a:solidFill>
              </a:rPr>
              <a:t>    # 3. BWT post-check güvenlik ağı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bwt_alt = bwt_rle_huffman_bits(text)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if bwt_alt &lt; smart_bits: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  smart_bits = bwt_alt</a:t>
            </a:r>
          </a:p>
          <a:p>
            <a:pPr/>
            <a:r>
              <a:rPr sz="600" b="0">
                <a:solidFill>
                  <a:srgbClr val="333333"/>
                </a:solidFill>
              </a:rPr>
              <a:t/>
            </a:r>
          </a:p>
          <a:p>
            <a:pPr/>
            <a:r>
              <a:rPr sz="1600" b="0">
                <a:solidFill>
                  <a:srgbClr val="7F8C8D"/>
                </a:solidFill>
              </a:rPr>
              <a:t>    # 4. Standart Huffman ile karşılaştır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return min(smart_bits, huffman_bits(text))</a:t>
            </a:r>
          </a:p>
          <a:p>
            <a:pPr/>
            <a:r>
              <a:rPr sz="800" b="0">
                <a:solidFill>
                  <a:srgbClr val="333333"/>
                </a:solidFill>
              </a:rPr>
              <a:t/>
            </a:r>
          </a:p>
          <a:p>
            <a:pPr/>
            <a:r>
              <a:rPr sz="2000" b="1">
                <a:solidFill>
                  <a:srgbClr val="27AE60"/>
                </a:solidFill>
              </a:rPr>
              <a:t>🛡️ Garanti: Akıllı Hibrit ≤ standart Huffman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📊 Performans Sonuçları (6 Veri Tipi)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097280"/>
          <a:ext cx="109728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83771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Veri Türü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Std Huffman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Akıllı Hibrit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İyileşme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783771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Tekrarlı (ABC×100)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%78.2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%96.9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+%85.9 🔥</a:t>
                      </a:r>
                    </a:p>
                  </a:txBody>
                  <a:tcPr/>
                </a:tc>
              </a:tr>
              <a:tr h="783771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DNA dizisi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%73.8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%94.1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+%77.5 🔥</a:t>
                      </a:r>
                    </a:p>
                  </a:txBody>
                  <a:tcPr/>
                </a:tc>
              </a:tr>
              <a:tr h="783771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JSON 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%60.7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%94.7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+%86.5 🔥</a:t>
                      </a:r>
                    </a:p>
                  </a:txBody>
                  <a:tcPr/>
                </a:tc>
              </a:tr>
              <a:tr h="783771">
                <a:tc>
                  <a:txBody>
                    <a:bodyPr/>
                    <a:lstStyle/>
                    <a:p>
                      <a:r>
                        <a:rPr sz="1400"/>
                        <a:t>Doğal Türkçe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%37.1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%38.7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+%2.5</a:t>
                      </a:r>
                    </a:p>
                  </a:txBody>
                  <a:tcPr/>
                </a:tc>
              </a:tr>
              <a:tr h="783771">
                <a:tc>
                  <a:txBody>
                    <a:bodyPr/>
                    <a:lstStyle/>
                    <a:p>
                      <a:r>
                        <a:rPr sz="1400"/>
                        <a:t>Wikipedia 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%39.8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%58.3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+%30.7</a:t>
                      </a:r>
                    </a:p>
                  </a:txBody>
                  <a:tcPr/>
                </a:tc>
              </a:tr>
              <a:tr h="783774">
                <a:tc>
                  <a:txBody>
                    <a:bodyPr/>
                    <a:lstStyle/>
                    <a:p>
                      <a:r>
                        <a:rPr sz="1400"/>
                        <a:t>Türkçe haber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%42.0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%54.3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+%21.2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🏭 Endüstri Karşılaştırması (730 karakter Türkçe akademik metin)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097280"/>
          <a:ext cx="109728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Algoritma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Boyut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Küçülme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Süre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gzip 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95 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%87.0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0.06 ms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zlib 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91 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%87.5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0.01 ms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bzip2 -9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148 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%79.7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0.80 ms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lzma 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124 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%83.0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6.79 ms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🏆 bwt_rle_huffman (BİZ)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94 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%87.1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0.56 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📈 Sonuç — Hocanın 2 Kriteri ✅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27AE60"/>
                </a:solidFill>
              </a:rPr>
              <a:t>✅ En İyi Performans Kriteri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6 veri tipinde +%2.5 ile +%86.5 iyileşme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Bzip2'den %36.5 daha küçük (kısa metinde)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100 birim test, sıfır kayıp</a:t>
            </a:r>
          </a:p>
          <a:p>
            <a:pPr/>
            <a:r>
              <a:rPr sz="1000" b="0">
                <a:solidFill>
                  <a:srgbClr val="333333"/>
                </a:solidFill>
              </a:rPr>
              <a:t/>
            </a:r>
          </a:p>
          <a:p>
            <a:pPr/>
            <a:r>
              <a:rPr sz="2600" b="1">
                <a:solidFill>
                  <a:srgbClr val="27AE60"/>
                </a:solidFill>
              </a:rPr>
              <a:t>✅ En İyi AI Entegrasyonu Kriteri</a:t>
            </a:r>
          </a:p>
          <a:p>
            <a:pPr lvl="1"/>
            <a:r>
              <a:rPr sz="1800" b="1">
                <a:solidFill>
                  <a:srgbClr val="E67E22"/>
                </a:solidFill>
              </a:rPr>
              <a:t>• 🤖 LLM ile LZW sözlüğü (PDF'te istenen!)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3-sınıflı NN algoritma seçici (%95.2)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Akıllı Hibrit + 42 AI günlüğü</a:t>
            </a:r>
          </a:p>
          <a:p>
            <a:pPr lvl="1"/>
            <a:r>
              <a:rPr sz="1800" b="0">
                <a:solidFill>
                  <a:srgbClr val="333333"/>
                </a:solidFill>
              </a:rPr>
              <a:t>• 12 akademik kaynak doğrulaması</a:t>
            </a:r>
          </a:p>
          <a:p>
            <a:pPr/>
            <a:r>
              <a:rPr sz="1000" b="0">
                <a:solidFill>
                  <a:srgbClr val="333333"/>
                </a:solidFill>
              </a:rPr>
              <a:t/>
            </a:r>
          </a:p>
          <a:p>
            <a:pPr/>
            <a:r>
              <a:rPr sz="2200" b="1">
                <a:solidFill>
                  <a:srgbClr val="2C3E50"/>
                </a:solidFill>
              </a:rPr>
              <a:t>🚀 Sistem canlı çalışıyor, akademik temelli, kayıpsız garanti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Teşekkürler 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ECF0F1"/>
                </a:solidFill>
              </a:rPr>
              <a:t>Sorularınız?
huggingface.co/spaces/tien23/ai-veri-sikistirma
github.com/betullarslan-cpu/ai-veri-sikistirma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Betül Arslan</a:t>
            </a:r>
          </a:p>
          <a:p>
            <a:pPr algn="ctr"/>
            <a:r>
              <a:rPr sz="2000">
                <a:solidFill>
                  <a:srgbClr val="ECF0F1"/>
                </a:solidFill>
              </a:rPr>
              <a:t>Yıldız Teknik Üniversitesi · Bahar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